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8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The Agent's Five-Step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B7590"/>
                </a:solidFill>
              </a:defRPr>
            </a:pPr>
            <a:r>
              <a:t>Screenshot -&gt; decide -&gt; safety check -&gt; execute -&gt; log, repeated until done, fail, or a step/time limit</a:t>
            </a:r>
          </a:p>
        </p:txBody>
      </p:sp>
      <p:pic>
        <p:nvPicPr>
          <p:cNvPr id="5" name="Picture 4" descr="fig1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600200"/>
            <a:ext cx="10515600" cy="4969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590"/>
                </a:solidFill>
              </a:defRPr>
            </a:pPr>
            <a:r>
              <a:t>A Taxonomy of Failure Modes in Vision-Language Desktop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8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Confirmation-Fatigue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B7590"/>
                </a:solidFill>
              </a:defRPr>
            </a:pPr>
            <a:r>
              <a:t>Steps 10-17 of a real send-email run, before and after the retrospective-mention filter fix</a:t>
            </a:r>
          </a:p>
        </p:txBody>
      </p:sp>
      <p:pic>
        <p:nvPicPr>
          <p:cNvPr id="5" name="Picture 4" descr="fig2_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600200"/>
            <a:ext cx="10515600" cy="425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590"/>
                </a:solidFill>
              </a:defRPr>
            </a:pPr>
            <a:r>
              <a:t>A Taxonomy of Failure Modes in Vision-Language Desktop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8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Why More Confirmations Can Mean Less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B7590"/>
                </a:solidFill>
              </a:defRPr>
            </a:pPr>
            <a:r>
              <a:t>Conceptual illustration only -- not a reproduction of Turan (2026)'s measured data</a:t>
            </a:r>
          </a:p>
        </p:txBody>
      </p:sp>
      <p:pic>
        <p:nvPicPr>
          <p:cNvPr id="5" name="Picture 4" descr="fig3_inverted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600200"/>
            <a:ext cx="8686800" cy="5877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590"/>
                </a:solidFill>
              </a:defRPr>
            </a:pPr>
            <a:r>
              <a:t>A Taxonomy of Failure Modes in Vision-Language Desktop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8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Three independent checks — any single match pauses the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590"/>
                </a:solidFill>
              </a:rPr>
              <a:t>The safety-gate mitigation (Section 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 w="222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9144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307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761"/>
                </a:solidFill>
              </a:rPr>
              <a:t>Layer 1 — structural key-combo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184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333333"/>
                </a:solidFill>
              </a:rPr>
              <a:t>Checks the literal key pressed against a fixed list (Alt+F4, Ctrl+W, Ctrl+Q, ...) — never reads reasoning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590"/>
                </a:solidFill>
              </a:rPr>
              <a:t>Catches: Alt+F4, described in safe-sounding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 w="22225">
            <a:solidFill>
              <a:srgbClr val="D9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06040"/>
            <a:ext cx="91440" cy="1051560"/>
          </a:xfrm>
          <a:prstGeom prst="rect">
            <a:avLst/>
          </a:prstGeom>
          <a:solidFill>
            <a:srgbClr val="D98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79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D98C1F"/>
                </a:solidFill>
              </a:rPr>
              <a:t>Layer 2 — retrospective-mention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90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333333"/>
                </a:solidFill>
              </a:rPr>
              <a:t>Drops sentences narrating a past attempt (“didn't,” “failed”) before scanning what's left for risk words.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832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590"/>
                </a:solidFill>
              </a:rPr>
              <a:t>Catches: false re-triggers from old failed 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EFF4FE"/>
          </a:solidFill>
          <a:ln w="22225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77640"/>
            <a:ext cx="91440" cy="105156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50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3A7D44"/>
                </a:solidFill>
              </a:rPr>
              <a:t>Layer 3 — self-reported risk_level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616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333333"/>
                </a:solidFill>
              </a:rPr>
              <a:t>The model rates its own action low / medium / high, independent of whatever words it used in reasoning.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590"/>
                </a:solidFill>
              </a:rPr>
              <a:t>Catches: risk described with unlisted words (“compose,” “submit”)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286000"/>
            <a:ext cx="0" cy="320040"/>
          </a:xfrm>
          <a:prstGeom prst="bentConnector3">
            <a:avLst/>
          </a:prstGeom>
          <a:ln w="22225">
            <a:solidFill>
              <a:srgbClr val="6B75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0" y="233629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B7590"/>
                </a:solidFill>
              </a:rPr>
              <a:t>if no match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3657600"/>
            <a:ext cx="0" cy="320040"/>
          </a:xfrm>
          <a:prstGeom prst="bentConnector3">
            <a:avLst/>
          </a:prstGeom>
          <a:ln w="22225">
            <a:solidFill>
              <a:srgbClr val="6B75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370789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B7590"/>
                </a:solidFill>
              </a:rPr>
              <a:t>if no 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539496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CEBE9"/>
          </a:solidFill>
          <a:ln w="222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0392B"/>
                </a:solidFill>
              </a:rPr>
              <a:t>Any layer matches → pause and ask for confirmation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5029200"/>
            <a:ext cx="0" cy="365760"/>
          </a:xfrm>
          <a:prstGeom prst="bentConnector3">
            <a:avLst/>
          </a:prstGeom>
          <a:ln w="222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590"/>
                </a:solidFill>
              </a:rPr>
              <a:t>A Taxonomy of Failure Modes in Vision-Language Desktop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